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6"/>
  </p:notesMasterIdLst>
  <p:sldIdLst>
    <p:sldId id="258" r:id="rId2"/>
    <p:sldId id="257" r:id="rId3"/>
    <p:sldId id="262" r:id="rId4"/>
    <p:sldId id="263" r:id="rId5"/>
    <p:sldId id="264" r:id="rId6"/>
    <p:sldId id="265" r:id="rId7"/>
    <p:sldId id="266" r:id="rId8"/>
    <p:sldId id="267" r:id="rId9"/>
    <p:sldId id="270" r:id="rId10"/>
    <p:sldId id="268" r:id="rId11"/>
    <p:sldId id="269" r:id="rId12"/>
    <p:sldId id="272" r:id="rId13"/>
    <p:sldId id="273" r:id="rId14"/>
    <p:sldId id="261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E5D6"/>
    <a:srgbClr val="F8D1B6"/>
    <a:srgbClr val="F5BA9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5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4" d="100"/>
          <a:sy n="64" d="100"/>
        </p:scale>
        <p:origin x="3192" y="7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1E0814-3C4F-485E-9ACF-8ADE8887BCC6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329809-1D62-4272-93FD-874454630D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64763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329809-1D62-4272-93FD-874454630DF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68306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E20B7-4958-4291-9746-32F75A4C7A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928EDC-5B95-43AD-8268-5DFF573B10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D7AF69-FB05-4717-B7F3-90E2D703F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A57B6-04DC-4A86-9403-5D17C9A6A2A6}" type="datetime1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15B1BE-A928-48B3-ACBF-C7D056FCB3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A6A99B-2E1E-4039-AC0C-AC746BD74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24A9C-95B3-4FE7-9017-C049B7A2E6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6377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5C388E-AAE6-4AEB-A2A7-867ECC75F2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1DC3B0-E454-449F-B55A-065D62AC27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4AD1C2-5084-411E-8582-DA4755565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8094-54EB-4355-8F6B-4BC8F2D1BA32}" type="datetime1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9861E3-5A53-4803-A0C0-9FEFA4141D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EDE46C-9806-4E26-9ED1-4A1508DF7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24A9C-95B3-4FE7-9017-C049B7A2E6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445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28043F-4E98-485A-A6DA-D8893B25B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5179CC-E7C2-451B-A8BA-6FBC9FDB69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A52646-4135-4846-BA7E-09B8EF79C2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09239-02B0-4D0A-BA00-29A81263DA74}" type="datetime1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C8A6D8-250E-4E5F-B91B-85EC0CE1A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6E04B5-D48B-42C4-8393-ECF5BBEDB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24A9C-95B3-4FE7-9017-C049B7A2E6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7360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6FE0F-5CC9-493F-A3BC-7125DFC885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D77ADE-D180-4A5A-AEFD-1075168DA1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641C1C-8381-429C-8198-BE2903A54C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FE5B07-0448-404F-B52E-391AE5AFF4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591B0-759F-4856-8D45-6ADF15B950C2}" type="datetime1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7BFCFB-00B3-41E0-BB62-E63C1192BB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DE795E-1D29-4471-8111-9978B6AED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24A9C-95B3-4FE7-9017-C049B7A2E6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18662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24804-9B93-49A3-BAAB-21F89C5280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0D10F7-DDC5-4A59-BFE4-7F643487BC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837A91-D5E4-461B-A308-3A0E3BD25C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B6B93E-EDB7-4DF8-A449-0AD648A4EE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3611F9-B38A-4E34-AB84-22334E04E1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BDE21B7-53B0-4D6C-8EAB-957FF923D1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CB991-2C23-4828-8479-5E741DBF7882}" type="datetime1">
              <a:rPr lang="en-US" smtClean="0"/>
              <a:t>5/5/2026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4818986-C23F-44B6-BC50-5E0A7AB74C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87C529-AF8C-46F5-9FFF-EFDE3BBBE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24A9C-95B3-4FE7-9017-C049B7A2E6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8938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4AD3A5-5E86-4759-800C-64F4E45B0E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1FFA5E6-760D-4B84-991F-D31F46B5D2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D147E-25B5-48B4-B8AA-557CAC36CDAB}" type="datetime1">
              <a:rPr lang="en-US" smtClean="0"/>
              <a:t>5/5/2026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1AF55D-3F10-4126-852B-9540BC7C4E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794880-EE48-4DE2-9402-DE997B6BA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24A9C-95B3-4FE7-9017-C049B7A2E6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47808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A5338C8-8CC0-4B92-905A-2F0EEA55F8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E34B1-77C2-407D-AEEB-27B0107C7167}" type="datetime1">
              <a:rPr lang="en-US" smtClean="0"/>
              <a:t>5/5/2026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73E2B7-40EC-4682-BE90-608759C66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DBE1D4-7E10-4E32-99F3-723D89516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24A9C-95B3-4FE7-9017-C049B7A2E6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6095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4485C1-4275-4159-B6C6-C6A30F1E8D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DB5880-655D-45A1-B416-CF49311AD3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2CF87C-9B58-40AC-84C1-A040C27089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1FBF82-00FF-4327-8F09-58DBFE617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D97BB-ED55-41FC-907F-3225E6385A98}" type="datetime1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25A905-01DB-4E09-AAAE-6EB835EF60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985C9F-FD94-42B0-A9E6-CCB724F66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24A9C-95B3-4FE7-9017-C049B7A2E6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9573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3F4F90-433D-4A11-BD7F-2ADFE896B2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DE8D7B6-9FB6-4A85-A207-2B9E73F7CFC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4F4B69-744C-4BB7-A100-6D96E94AF5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756A63-3E49-4849-820D-33C599016C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FF529-9FE4-4C6E-B6F2-01F29ED0E1CB}" type="datetime1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0C0514-21FB-4341-8BFC-EDF023D1CA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CDC036-E3DC-4F07-A096-56BA13651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24A9C-95B3-4FE7-9017-C049B7A2E6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9530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14D31-1340-42F8-B075-57AC2A49E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F6F13F-8BE3-4135-94F1-F3B1694830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655D67-59C1-4BF5-8EDF-A5ED6CD8C8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1C61A-E539-4EC0-8367-1F06EA23F46E}" type="datetime1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68918E-AD84-4697-BA45-9542D5763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374A56-48BA-4885-A738-EDA2DAC14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24A9C-95B3-4FE7-9017-C049B7A2E6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631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75800A0-1E4A-4C13-933B-17B9478450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A82D1F-3084-4AC7-AF08-F57F482957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B6C5A9-4690-40EC-B6CC-87A84D54A4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57BBA-D575-4BC1-8458-5EFAE73A395B}" type="datetime1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0171FF-6224-429C-AAE0-EBC959E6B7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5C9CA6-5743-46E1-B9FF-EA955B7F1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24A9C-95B3-4FE7-9017-C049B7A2E6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86383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2">
                <a:lumMod val="20000"/>
                <a:lumOff val="80000"/>
              </a:schemeClr>
            </a:gs>
            <a:gs pos="74000">
              <a:schemeClr val="accent2">
                <a:lumMod val="20000"/>
                <a:lumOff val="80000"/>
              </a:schemeClr>
            </a:gs>
            <a:gs pos="83000">
              <a:schemeClr val="accent2">
                <a:lumMod val="20000"/>
                <a:lumOff val="80000"/>
              </a:schemeClr>
            </a:gs>
            <a:gs pos="100000">
              <a:schemeClr val="accent2">
                <a:lumMod val="60000"/>
                <a:lumOff val="4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32E7917-89D7-44E2-8FA9-2588B93CE5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371254-2DA9-483B-AEB0-8E7EE825C2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203ED6-24A2-49FC-B99B-AEA2DA98C2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76D50-9CF1-4C0D-AA41-2022878C3F7C}" type="datetime1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408DD5-14A3-4362-B88F-0497DAD407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4647F4-7F73-4749-A661-10FB5DEAE4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24A9C-95B3-4FE7-9017-C049B7A2E6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61944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United International University - Wikipedia">
            <a:extLst>
              <a:ext uri="{FF2B5EF4-FFF2-40B4-BE49-F238E27FC236}">
                <a16:creationId xmlns:a16="http://schemas.microsoft.com/office/drawing/2014/main" id="{B341A1EA-18FD-4128-8B7D-145FD193FC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665" y="5533628"/>
            <a:ext cx="1084551" cy="9855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7" name="Group 26">
            <a:extLst>
              <a:ext uri="{FF2B5EF4-FFF2-40B4-BE49-F238E27FC236}">
                <a16:creationId xmlns:a16="http://schemas.microsoft.com/office/drawing/2014/main" id="{EEF79BC9-53D6-46BF-9AA1-B42073FD8E59}"/>
              </a:ext>
            </a:extLst>
          </p:cNvPr>
          <p:cNvGrpSpPr/>
          <p:nvPr/>
        </p:nvGrpSpPr>
        <p:grpSpPr>
          <a:xfrm>
            <a:off x="1266190" y="5873086"/>
            <a:ext cx="10925810" cy="341450"/>
            <a:chOff x="1266190" y="5873086"/>
            <a:chExt cx="10925810" cy="34145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5C7569F6-4E30-4BA1-9892-D570F66EF03E}"/>
                </a:ext>
              </a:extLst>
            </p:cNvPr>
            <p:cNvSpPr/>
            <p:nvPr/>
          </p:nvSpPr>
          <p:spPr>
            <a:xfrm>
              <a:off x="1276350" y="6107490"/>
              <a:ext cx="10915650" cy="96886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6D47C19-6AEF-4192-BCE8-725095AD7DF6}"/>
                </a:ext>
              </a:extLst>
            </p:cNvPr>
            <p:cNvSpPr/>
            <p:nvPr/>
          </p:nvSpPr>
          <p:spPr>
            <a:xfrm>
              <a:off x="1276350" y="5873086"/>
              <a:ext cx="10915650" cy="96886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7" name="Right Triangle 6">
              <a:extLst>
                <a:ext uri="{FF2B5EF4-FFF2-40B4-BE49-F238E27FC236}">
                  <a16:creationId xmlns:a16="http://schemas.microsoft.com/office/drawing/2014/main" id="{67F985D6-EEB3-4F99-A9AD-88FE92895359}"/>
                </a:ext>
              </a:extLst>
            </p:cNvPr>
            <p:cNvSpPr/>
            <p:nvPr/>
          </p:nvSpPr>
          <p:spPr>
            <a:xfrm>
              <a:off x="1266190" y="5883246"/>
              <a:ext cx="386080" cy="331290"/>
            </a:xfrm>
            <a:prstGeom prst="rtTriangl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76240AA-889B-4A4F-B6B5-E3A342848AA1}"/>
              </a:ext>
            </a:extLst>
          </p:cNvPr>
          <p:cNvSpPr/>
          <p:nvPr/>
        </p:nvSpPr>
        <p:spPr>
          <a:xfrm>
            <a:off x="1" y="462935"/>
            <a:ext cx="12191999" cy="1926258"/>
          </a:xfrm>
          <a:prstGeom prst="roundRect">
            <a:avLst>
              <a:gd name="adj" fmla="val 0"/>
            </a:avLst>
          </a:prstGeom>
          <a:solidFill>
            <a:srgbClr val="EC7728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sp>
        <p:nvSpPr>
          <p:cNvPr id="9" name="TextBox 2">
            <a:extLst>
              <a:ext uri="{FF2B5EF4-FFF2-40B4-BE49-F238E27FC236}">
                <a16:creationId xmlns:a16="http://schemas.microsoft.com/office/drawing/2014/main" id="{54DB0355-0393-44D9-B70B-AFC4DCD88370}"/>
              </a:ext>
            </a:extLst>
          </p:cNvPr>
          <p:cNvSpPr txBox="1"/>
          <p:nvPr/>
        </p:nvSpPr>
        <p:spPr>
          <a:xfrm>
            <a:off x="0" y="643464"/>
            <a:ext cx="121919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Fuel Management System</a:t>
            </a:r>
            <a:endParaRPr lang="en-US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C470BB97-B1DD-417B-9A20-B3FF3A884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24A9C-95B3-4FE7-9017-C049B7A2E691}" type="slidenum">
              <a:rPr lang="en-US" smtClean="0"/>
              <a:t>1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D13DBA-7F37-4501-A87B-39A2B131688C}"/>
              </a:ext>
            </a:extLst>
          </p:cNvPr>
          <p:cNvSpPr txBox="1"/>
          <p:nvPr/>
        </p:nvSpPr>
        <p:spPr>
          <a:xfrm>
            <a:off x="388142" y="1519055"/>
            <a:ext cx="114157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A web-based system to manage fuel stations, transactions, inventory, pricing, and vehicle tracking efficiently.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69F70F6-393F-4B7F-A34F-4276E11D9FFA}"/>
              </a:ext>
            </a:extLst>
          </p:cNvPr>
          <p:cNvSpPr txBox="1"/>
          <p:nvPr/>
        </p:nvSpPr>
        <p:spPr>
          <a:xfrm>
            <a:off x="3143249" y="2607100"/>
            <a:ext cx="5676900" cy="27959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Alfi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Shahriar (0112320293)</a:t>
            </a:r>
          </a:p>
          <a:p>
            <a:pPr algn="ctr"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Naima Islam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nabila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(0112320270)</a:t>
            </a:r>
          </a:p>
          <a:p>
            <a:pPr algn="ctr"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Asia Kabir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Shafa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(0112320295)</a:t>
            </a:r>
          </a:p>
          <a:p>
            <a:pPr algn="ctr"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Md. Sajid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hasan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(0112410166)</a:t>
            </a:r>
          </a:p>
          <a:p>
            <a:pPr algn="ctr"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Anas Ahmed (0112410455)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44BC319-D906-43CE-8C8D-96A5F6872E3A}"/>
              </a:ext>
            </a:extLst>
          </p:cNvPr>
          <p:cNvSpPr/>
          <p:nvPr/>
        </p:nvSpPr>
        <p:spPr>
          <a:xfrm>
            <a:off x="3438525" y="2607100"/>
            <a:ext cx="5038725" cy="3017126"/>
          </a:xfrm>
          <a:prstGeom prst="round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42901163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1090EA8E-893E-F3CA-FB47-2E7354DD8C81}"/>
              </a:ext>
            </a:extLst>
          </p:cNvPr>
          <p:cNvGrpSpPr/>
          <p:nvPr/>
        </p:nvGrpSpPr>
        <p:grpSpPr>
          <a:xfrm>
            <a:off x="1" y="481985"/>
            <a:ext cx="12191999" cy="658453"/>
            <a:chOff x="1" y="659359"/>
            <a:chExt cx="12191999" cy="658453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BD8E325F-033E-F3DB-74A9-230253F64041}"/>
                </a:ext>
              </a:extLst>
            </p:cNvPr>
            <p:cNvSpPr/>
            <p:nvPr/>
          </p:nvSpPr>
          <p:spPr>
            <a:xfrm>
              <a:off x="1" y="659359"/>
              <a:ext cx="12191999" cy="658453"/>
            </a:xfrm>
            <a:prstGeom prst="roundRect">
              <a:avLst>
                <a:gd name="adj" fmla="val 0"/>
              </a:avLst>
            </a:prstGeom>
            <a:solidFill>
              <a:srgbClr val="EC7728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3200" dirty="0"/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A6F455AF-8831-4F9A-BF97-951D543F1FFA}"/>
                </a:ext>
              </a:extLst>
            </p:cNvPr>
            <p:cNvCxnSpPr>
              <a:cxnSpLocks/>
            </p:cNvCxnSpPr>
            <p:nvPr/>
          </p:nvCxnSpPr>
          <p:spPr>
            <a:xfrm>
              <a:off x="1004788" y="759894"/>
              <a:ext cx="0" cy="482479"/>
            </a:xfrm>
            <a:prstGeom prst="line">
              <a:avLst/>
            </a:pr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15" name="Arrow: Chevron 14">
              <a:extLst>
                <a:ext uri="{FF2B5EF4-FFF2-40B4-BE49-F238E27FC236}">
                  <a16:creationId xmlns:a16="http://schemas.microsoft.com/office/drawing/2014/main" id="{6DEC6D4F-3267-1913-C027-A81AE7AF19A7}"/>
                </a:ext>
              </a:extLst>
            </p:cNvPr>
            <p:cNvSpPr/>
            <p:nvPr/>
          </p:nvSpPr>
          <p:spPr>
            <a:xfrm>
              <a:off x="483756" y="722250"/>
              <a:ext cx="382138" cy="520123"/>
            </a:xfrm>
            <a:prstGeom prst="chevron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6" name="Arrow: Chevron 15">
              <a:extLst>
                <a:ext uri="{FF2B5EF4-FFF2-40B4-BE49-F238E27FC236}">
                  <a16:creationId xmlns:a16="http://schemas.microsoft.com/office/drawing/2014/main" id="{3B6A489A-D721-AA1C-10ED-FF30E78393F5}"/>
                </a:ext>
              </a:extLst>
            </p:cNvPr>
            <p:cNvSpPr/>
            <p:nvPr/>
          </p:nvSpPr>
          <p:spPr>
            <a:xfrm>
              <a:off x="64727" y="722250"/>
              <a:ext cx="382138" cy="520123"/>
            </a:xfrm>
            <a:prstGeom prst="chevron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9" name="TextBox 1">
            <a:extLst>
              <a:ext uri="{FF2B5EF4-FFF2-40B4-BE49-F238E27FC236}">
                <a16:creationId xmlns:a16="http://schemas.microsoft.com/office/drawing/2014/main" id="{5DEA2126-D72D-4BB9-9CE2-C91D4163FDD6}"/>
              </a:ext>
            </a:extLst>
          </p:cNvPr>
          <p:cNvSpPr txBox="1"/>
          <p:nvPr/>
        </p:nvSpPr>
        <p:spPr>
          <a:xfrm>
            <a:off x="1040821" y="593361"/>
            <a:ext cx="75898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bg1"/>
                </a:solidFill>
                <a:latin typeface="Arial Black" panose="020B0A04020102020204" pitchFamily="34" charset="0"/>
              </a:rPr>
              <a:t>Type of Project</a:t>
            </a:r>
          </a:p>
        </p:txBody>
      </p:sp>
      <p:pic>
        <p:nvPicPr>
          <p:cNvPr id="17" name="Picture 16" descr="United International University - Wikipedia">
            <a:extLst>
              <a:ext uri="{FF2B5EF4-FFF2-40B4-BE49-F238E27FC236}">
                <a16:creationId xmlns:a16="http://schemas.microsoft.com/office/drawing/2014/main" id="{07F576D0-DBF7-4669-8FAA-E79F9361F3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665" y="5533628"/>
            <a:ext cx="1084551" cy="9855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0B9F2240-1789-4D81-B79D-E7E8B23C32E4}"/>
              </a:ext>
            </a:extLst>
          </p:cNvPr>
          <p:cNvGrpSpPr/>
          <p:nvPr/>
        </p:nvGrpSpPr>
        <p:grpSpPr>
          <a:xfrm>
            <a:off x="1266190" y="5873086"/>
            <a:ext cx="10925810" cy="341450"/>
            <a:chOff x="1266190" y="5873086"/>
            <a:chExt cx="10925810" cy="341450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E2638B07-F874-4A44-AD3E-5F24AA91E4F6}"/>
                </a:ext>
              </a:extLst>
            </p:cNvPr>
            <p:cNvSpPr/>
            <p:nvPr/>
          </p:nvSpPr>
          <p:spPr>
            <a:xfrm>
              <a:off x="1276350" y="6107490"/>
              <a:ext cx="10915650" cy="96886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97464DE8-270E-4230-9E5D-E8972F6964FD}"/>
                </a:ext>
              </a:extLst>
            </p:cNvPr>
            <p:cNvSpPr/>
            <p:nvPr/>
          </p:nvSpPr>
          <p:spPr>
            <a:xfrm>
              <a:off x="1276350" y="5873086"/>
              <a:ext cx="10915650" cy="96886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Right Triangle 20">
              <a:extLst>
                <a:ext uri="{FF2B5EF4-FFF2-40B4-BE49-F238E27FC236}">
                  <a16:creationId xmlns:a16="http://schemas.microsoft.com/office/drawing/2014/main" id="{17ADC131-A1D2-4B8F-BBAA-3B6570B6B0D6}"/>
                </a:ext>
              </a:extLst>
            </p:cNvPr>
            <p:cNvSpPr/>
            <p:nvPr/>
          </p:nvSpPr>
          <p:spPr>
            <a:xfrm>
              <a:off x="1266190" y="5883246"/>
              <a:ext cx="386080" cy="331290"/>
            </a:xfrm>
            <a:prstGeom prst="rtTriangl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41FCF4-208D-493B-A3CD-E7C0D649E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24A9C-95B3-4FE7-9017-C049B7A2E691}" type="slidenum">
              <a:rPr lang="en-US" smtClean="0"/>
              <a:t>2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B7BFAF3-75F4-4FFA-BACB-FB2858F21300}"/>
              </a:ext>
            </a:extLst>
          </p:cNvPr>
          <p:cNvSpPr txBox="1"/>
          <p:nvPr/>
        </p:nvSpPr>
        <p:spPr>
          <a:xfrm>
            <a:off x="1040821" y="1638517"/>
            <a:ext cx="7467601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Type: Web Application</a:t>
            </a:r>
          </a:p>
          <a:p>
            <a:endParaRPr lang="en-US" sz="2800" b="1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Centralized fuel station management system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Accessible via browser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Supports admin and staff roles</a:t>
            </a:r>
          </a:p>
        </p:txBody>
      </p:sp>
    </p:spTree>
    <p:extLst>
      <p:ext uri="{BB962C8B-B14F-4D97-AF65-F5344CB8AC3E}">
        <p14:creationId xmlns:p14="http://schemas.microsoft.com/office/powerpoint/2010/main" val="9803635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1090EA8E-893E-F3CA-FB47-2E7354DD8C81}"/>
              </a:ext>
            </a:extLst>
          </p:cNvPr>
          <p:cNvGrpSpPr/>
          <p:nvPr/>
        </p:nvGrpSpPr>
        <p:grpSpPr>
          <a:xfrm>
            <a:off x="1" y="481985"/>
            <a:ext cx="12191999" cy="658453"/>
            <a:chOff x="1" y="659359"/>
            <a:chExt cx="12191999" cy="658453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BD8E325F-033E-F3DB-74A9-230253F64041}"/>
                </a:ext>
              </a:extLst>
            </p:cNvPr>
            <p:cNvSpPr/>
            <p:nvPr/>
          </p:nvSpPr>
          <p:spPr>
            <a:xfrm>
              <a:off x="1" y="659359"/>
              <a:ext cx="12191999" cy="658453"/>
            </a:xfrm>
            <a:prstGeom prst="roundRect">
              <a:avLst>
                <a:gd name="adj" fmla="val 0"/>
              </a:avLst>
            </a:prstGeom>
            <a:solidFill>
              <a:srgbClr val="EC7728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3200" dirty="0"/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A6F455AF-8831-4F9A-BF97-951D543F1FFA}"/>
                </a:ext>
              </a:extLst>
            </p:cNvPr>
            <p:cNvCxnSpPr>
              <a:cxnSpLocks/>
            </p:cNvCxnSpPr>
            <p:nvPr/>
          </p:nvCxnSpPr>
          <p:spPr>
            <a:xfrm>
              <a:off x="1004788" y="759894"/>
              <a:ext cx="0" cy="482479"/>
            </a:xfrm>
            <a:prstGeom prst="line">
              <a:avLst/>
            </a:pr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15" name="Arrow: Chevron 14">
              <a:extLst>
                <a:ext uri="{FF2B5EF4-FFF2-40B4-BE49-F238E27FC236}">
                  <a16:creationId xmlns:a16="http://schemas.microsoft.com/office/drawing/2014/main" id="{6DEC6D4F-3267-1913-C027-A81AE7AF19A7}"/>
                </a:ext>
              </a:extLst>
            </p:cNvPr>
            <p:cNvSpPr/>
            <p:nvPr/>
          </p:nvSpPr>
          <p:spPr>
            <a:xfrm>
              <a:off x="483756" y="722250"/>
              <a:ext cx="382138" cy="520123"/>
            </a:xfrm>
            <a:prstGeom prst="chevron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6" name="Arrow: Chevron 15">
              <a:extLst>
                <a:ext uri="{FF2B5EF4-FFF2-40B4-BE49-F238E27FC236}">
                  <a16:creationId xmlns:a16="http://schemas.microsoft.com/office/drawing/2014/main" id="{3B6A489A-D721-AA1C-10ED-FF30E78393F5}"/>
                </a:ext>
              </a:extLst>
            </p:cNvPr>
            <p:cNvSpPr/>
            <p:nvPr/>
          </p:nvSpPr>
          <p:spPr>
            <a:xfrm>
              <a:off x="64727" y="722250"/>
              <a:ext cx="382138" cy="520123"/>
            </a:xfrm>
            <a:prstGeom prst="chevron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9" name="TextBox 1">
            <a:extLst>
              <a:ext uri="{FF2B5EF4-FFF2-40B4-BE49-F238E27FC236}">
                <a16:creationId xmlns:a16="http://schemas.microsoft.com/office/drawing/2014/main" id="{5DEA2126-D72D-4BB9-9CE2-C91D4163FDD6}"/>
              </a:ext>
            </a:extLst>
          </p:cNvPr>
          <p:cNvSpPr txBox="1"/>
          <p:nvPr/>
        </p:nvSpPr>
        <p:spPr>
          <a:xfrm>
            <a:off x="1040821" y="593361"/>
            <a:ext cx="75898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bg1"/>
                </a:solidFill>
                <a:latin typeface="Arial Black" panose="020B0A04020102020204" pitchFamily="34" charset="0"/>
              </a:rPr>
              <a:t>Objectives</a:t>
            </a:r>
          </a:p>
        </p:txBody>
      </p:sp>
      <p:pic>
        <p:nvPicPr>
          <p:cNvPr id="17" name="Picture 16" descr="United International University - Wikipedia">
            <a:extLst>
              <a:ext uri="{FF2B5EF4-FFF2-40B4-BE49-F238E27FC236}">
                <a16:creationId xmlns:a16="http://schemas.microsoft.com/office/drawing/2014/main" id="{07F576D0-DBF7-4669-8FAA-E79F9361F3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665" y="5533628"/>
            <a:ext cx="1084551" cy="9855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0B9F2240-1789-4D81-B79D-E7E8B23C32E4}"/>
              </a:ext>
            </a:extLst>
          </p:cNvPr>
          <p:cNvGrpSpPr/>
          <p:nvPr/>
        </p:nvGrpSpPr>
        <p:grpSpPr>
          <a:xfrm>
            <a:off x="1266190" y="5873086"/>
            <a:ext cx="10925810" cy="341450"/>
            <a:chOff x="1266190" y="5873086"/>
            <a:chExt cx="10925810" cy="341450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E2638B07-F874-4A44-AD3E-5F24AA91E4F6}"/>
                </a:ext>
              </a:extLst>
            </p:cNvPr>
            <p:cNvSpPr/>
            <p:nvPr/>
          </p:nvSpPr>
          <p:spPr>
            <a:xfrm>
              <a:off x="1276350" y="6107490"/>
              <a:ext cx="10915650" cy="96886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97464DE8-270E-4230-9E5D-E8972F6964FD}"/>
                </a:ext>
              </a:extLst>
            </p:cNvPr>
            <p:cNvSpPr/>
            <p:nvPr/>
          </p:nvSpPr>
          <p:spPr>
            <a:xfrm>
              <a:off x="1276350" y="5873086"/>
              <a:ext cx="10915650" cy="96886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Right Triangle 20">
              <a:extLst>
                <a:ext uri="{FF2B5EF4-FFF2-40B4-BE49-F238E27FC236}">
                  <a16:creationId xmlns:a16="http://schemas.microsoft.com/office/drawing/2014/main" id="{17ADC131-A1D2-4B8F-BBAA-3B6570B6B0D6}"/>
                </a:ext>
              </a:extLst>
            </p:cNvPr>
            <p:cNvSpPr/>
            <p:nvPr/>
          </p:nvSpPr>
          <p:spPr>
            <a:xfrm>
              <a:off x="1266190" y="5883246"/>
              <a:ext cx="386080" cy="331290"/>
            </a:xfrm>
            <a:prstGeom prst="rtTriangl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41FCF4-208D-493B-A3CD-E7C0D649E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24A9C-95B3-4FE7-9017-C049B7A2E691}" type="slidenum">
              <a:rPr lang="en-US" smtClean="0"/>
              <a:t>3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EDD3A87-E385-4BBE-AB89-CD21723FF99F}"/>
              </a:ext>
            </a:extLst>
          </p:cNvPr>
          <p:cNvSpPr txBox="1"/>
          <p:nvPr/>
        </p:nvSpPr>
        <p:spPr>
          <a:xfrm>
            <a:off x="1040821" y="1896333"/>
            <a:ext cx="666750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 fuel sales and transactions efficiently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 fuel inventory across stations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 vehicle fuel usage and odometer readings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 fuel price history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secure user and role management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reports and audit logs</a:t>
            </a:r>
          </a:p>
        </p:txBody>
      </p:sp>
    </p:spTree>
    <p:extLst>
      <p:ext uri="{BB962C8B-B14F-4D97-AF65-F5344CB8AC3E}">
        <p14:creationId xmlns:p14="http://schemas.microsoft.com/office/powerpoint/2010/main" val="20772540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1090EA8E-893E-F3CA-FB47-2E7354DD8C81}"/>
              </a:ext>
            </a:extLst>
          </p:cNvPr>
          <p:cNvGrpSpPr/>
          <p:nvPr/>
        </p:nvGrpSpPr>
        <p:grpSpPr>
          <a:xfrm>
            <a:off x="1" y="481985"/>
            <a:ext cx="12191999" cy="658453"/>
            <a:chOff x="1" y="659359"/>
            <a:chExt cx="12191999" cy="658453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BD8E325F-033E-F3DB-74A9-230253F64041}"/>
                </a:ext>
              </a:extLst>
            </p:cNvPr>
            <p:cNvSpPr/>
            <p:nvPr/>
          </p:nvSpPr>
          <p:spPr>
            <a:xfrm>
              <a:off x="1" y="659359"/>
              <a:ext cx="12191999" cy="658453"/>
            </a:xfrm>
            <a:prstGeom prst="roundRect">
              <a:avLst>
                <a:gd name="adj" fmla="val 0"/>
              </a:avLst>
            </a:prstGeom>
            <a:solidFill>
              <a:srgbClr val="EC7728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3200" dirty="0"/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A6F455AF-8831-4F9A-BF97-951D543F1FFA}"/>
                </a:ext>
              </a:extLst>
            </p:cNvPr>
            <p:cNvCxnSpPr>
              <a:cxnSpLocks/>
            </p:cNvCxnSpPr>
            <p:nvPr/>
          </p:nvCxnSpPr>
          <p:spPr>
            <a:xfrm>
              <a:off x="1004788" y="759894"/>
              <a:ext cx="0" cy="482479"/>
            </a:xfrm>
            <a:prstGeom prst="line">
              <a:avLst/>
            </a:pr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15" name="Arrow: Chevron 14">
              <a:extLst>
                <a:ext uri="{FF2B5EF4-FFF2-40B4-BE49-F238E27FC236}">
                  <a16:creationId xmlns:a16="http://schemas.microsoft.com/office/drawing/2014/main" id="{6DEC6D4F-3267-1913-C027-A81AE7AF19A7}"/>
                </a:ext>
              </a:extLst>
            </p:cNvPr>
            <p:cNvSpPr/>
            <p:nvPr/>
          </p:nvSpPr>
          <p:spPr>
            <a:xfrm>
              <a:off x="483756" y="722250"/>
              <a:ext cx="382138" cy="520123"/>
            </a:xfrm>
            <a:prstGeom prst="chevron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6" name="Arrow: Chevron 15">
              <a:extLst>
                <a:ext uri="{FF2B5EF4-FFF2-40B4-BE49-F238E27FC236}">
                  <a16:creationId xmlns:a16="http://schemas.microsoft.com/office/drawing/2014/main" id="{3B6A489A-D721-AA1C-10ED-FF30E78393F5}"/>
                </a:ext>
              </a:extLst>
            </p:cNvPr>
            <p:cNvSpPr/>
            <p:nvPr/>
          </p:nvSpPr>
          <p:spPr>
            <a:xfrm>
              <a:off x="64727" y="722250"/>
              <a:ext cx="382138" cy="520123"/>
            </a:xfrm>
            <a:prstGeom prst="chevron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9" name="TextBox 1">
            <a:extLst>
              <a:ext uri="{FF2B5EF4-FFF2-40B4-BE49-F238E27FC236}">
                <a16:creationId xmlns:a16="http://schemas.microsoft.com/office/drawing/2014/main" id="{5DEA2126-D72D-4BB9-9CE2-C91D4163FDD6}"/>
              </a:ext>
            </a:extLst>
          </p:cNvPr>
          <p:cNvSpPr txBox="1"/>
          <p:nvPr/>
        </p:nvSpPr>
        <p:spPr>
          <a:xfrm>
            <a:off x="1040821" y="593361"/>
            <a:ext cx="75898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bg1"/>
                </a:solidFill>
                <a:latin typeface="Arial Black" panose="020B0A04020102020204" pitchFamily="34" charset="0"/>
              </a:rPr>
              <a:t>Problem Statement</a:t>
            </a:r>
          </a:p>
        </p:txBody>
      </p:sp>
      <p:pic>
        <p:nvPicPr>
          <p:cNvPr id="17" name="Picture 16" descr="United International University - Wikipedia">
            <a:extLst>
              <a:ext uri="{FF2B5EF4-FFF2-40B4-BE49-F238E27FC236}">
                <a16:creationId xmlns:a16="http://schemas.microsoft.com/office/drawing/2014/main" id="{07F576D0-DBF7-4669-8FAA-E79F9361F3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665" y="5533628"/>
            <a:ext cx="1084551" cy="9855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0B9F2240-1789-4D81-B79D-E7E8B23C32E4}"/>
              </a:ext>
            </a:extLst>
          </p:cNvPr>
          <p:cNvGrpSpPr/>
          <p:nvPr/>
        </p:nvGrpSpPr>
        <p:grpSpPr>
          <a:xfrm>
            <a:off x="1266190" y="5873086"/>
            <a:ext cx="10925810" cy="341450"/>
            <a:chOff x="1266190" y="5873086"/>
            <a:chExt cx="10925810" cy="341450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E2638B07-F874-4A44-AD3E-5F24AA91E4F6}"/>
                </a:ext>
              </a:extLst>
            </p:cNvPr>
            <p:cNvSpPr/>
            <p:nvPr/>
          </p:nvSpPr>
          <p:spPr>
            <a:xfrm>
              <a:off x="1276350" y="6107490"/>
              <a:ext cx="10915650" cy="96886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97464DE8-270E-4230-9E5D-E8972F6964FD}"/>
                </a:ext>
              </a:extLst>
            </p:cNvPr>
            <p:cNvSpPr/>
            <p:nvPr/>
          </p:nvSpPr>
          <p:spPr>
            <a:xfrm>
              <a:off x="1276350" y="5873086"/>
              <a:ext cx="10915650" cy="96886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Right Triangle 20">
              <a:extLst>
                <a:ext uri="{FF2B5EF4-FFF2-40B4-BE49-F238E27FC236}">
                  <a16:creationId xmlns:a16="http://schemas.microsoft.com/office/drawing/2014/main" id="{17ADC131-A1D2-4B8F-BBAA-3B6570B6B0D6}"/>
                </a:ext>
              </a:extLst>
            </p:cNvPr>
            <p:cNvSpPr/>
            <p:nvPr/>
          </p:nvSpPr>
          <p:spPr>
            <a:xfrm>
              <a:off x="1266190" y="5883246"/>
              <a:ext cx="386080" cy="331290"/>
            </a:xfrm>
            <a:prstGeom prst="rtTriangl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41FCF4-208D-493B-A3CD-E7C0D649E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24A9C-95B3-4FE7-9017-C049B7A2E691}" type="slidenum">
              <a:rPr lang="en-US" smtClean="0"/>
              <a:t>4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60234BD-773C-476C-8C2C-806515C85460}"/>
              </a:ext>
            </a:extLst>
          </p:cNvPr>
          <p:cNvSpPr txBox="1"/>
          <p:nvPr/>
        </p:nvSpPr>
        <p:spPr>
          <a:xfrm>
            <a:off x="1040821" y="1885950"/>
            <a:ext cx="730567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fuel tracking leads to errors and inefficiency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Difficulty in managing inventory across stations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proper monitoring of fuel consumption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centralized system for price updates and history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Poor transparency in transactions and auditing</a:t>
            </a:r>
          </a:p>
        </p:txBody>
      </p:sp>
    </p:spTree>
    <p:extLst>
      <p:ext uri="{BB962C8B-B14F-4D97-AF65-F5344CB8AC3E}">
        <p14:creationId xmlns:p14="http://schemas.microsoft.com/office/powerpoint/2010/main" val="29034479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1090EA8E-893E-F3CA-FB47-2E7354DD8C81}"/>
              </a:ext>
            </a:extLst>
          </p:cNvPr>
          <p:cNvGrpSpPr/>
          <p:nvPr/>
        </p:nvGrpSpPr>
        <p:grpSpPr>
          <a:xfrm>
            <a:off x="1" y="481985"/>
            <a:ext cx="12191999" cy="658453"/>
            <a:chOff x="1" y="659359"/>
            <a:chExt cx="12191999" cy="658453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BD8E325F-033E-F3DB-74A9-230253F64041}"/>
                </a:ext>
              </a:extLst>
            </p:cNvPr>
            <p:cNvSpPr/>
            <p:nvPr/>
          </p:nvSpPr>
          <p:spPr>
            <a:xfrm>
              <a:off x="1" y="659359"/>
              <a:ext cx="12191999" cy="658453"/>
            </a:xfrm>
            <a:prstGeom prst="roundRect">
              <a:avLst>
                <a:gd name="adj" fmla="val 0"/>
              </a:avLst>
            </a:prstGeom>
            <a:solidFill>
              <a:srgbClr val="EC7728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3200" dirty="0"/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A6F455AF-8831-4F9A-BF97-951D543F1FFA}"/>
                </a:ext>
              </a:extLst>
            </p:cNvPr>
            <p:cNvCxnSpPr>
              <a:cxnSpLocks/>
            </p:cNvCxnSpPr>
            <p:nvPr/>
          </p:nvCxnSpPr>
          <p:spPr>
            <a:xfrm>
              <a:off x="1004788" y="759894"/>
              <a:ext cx="0" cy="482479"/>
            </a:xfrm>
            <a:prstGeom prst="line">
              <a:avLst/>
            </a:pr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15" name="Arrow: Chevron 14">
              <a:extLst>
                <a:ext uri="{FF2B5EF4-FFF2-40B4-BE49-F238E27FC236}">
                  <a16:creationId xmlns:a16="http://schemas.microsoft.com/office/drawing/2014/main" id="{6DEC6D4F-3267-1913-C027-A81AE7AF19A7}"/>
                </a:ext>
              </a:extLst>
            </p:cNvPr>
            <p:cNvSpPr/>
            <p:nvPr/>
          </p:nvSpPr>
          <p:spPr>
            <a:xfrm>
              <a:off x="483756" y="722250"/>
              <a:ext cx="382138" cy="520123"/>
            </a:xfrm>
            <a:prstGeom prst="chevron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6" name="Arrow: Chevron 15">
              <a:extLst>
                <a:ext uri="{FF2B5EF4-FFF2-40B4-BE49-F238E27FC236}">
                  <a16:creationId xmlns:a16="http://schemas.microsoft.com/office/drawing/2014/main" id="{3B6A489A-D721-AA1C-10ED-FF30E78393F5}"/>
                </a:ext>
              </a:extLst>
            </p:cNvPr>
            <p:cNvSpPr/>
            <p:nvPr/>
          </p:nvSpPr>
          <p:spPr>
            <a:xfrm>
              <a:off x="64727" y="722250"/>
              <a:ext cx="382138" cy="520123"/>
            </a:xfrm>
            <a:prstGeom prst="chevron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9" name="TextBox 1">
            <a:extLst>
              <a:ext uri="{FF2B5EF4-FFF2-40B4-BE49-F238E27FC236}">
                <a16:creationId xmlns:a16="http://schemas.microsoft.com/office/drawing/2014/main" id="{5DEA2126-D72D-4BB9-9CE2-C91D4163FDD6}"/>
              </a:ext>
            </a:extLst>
          </p:cNvPr>
          <p:cNvSpPr txBox="1"/>
          <p:nvPr/>
        </p:nvSpPr>
        <p:spPr>
          <a:xfrm>
            <a:off x="1040821" y="593361"/>
            <a:ext cx="75898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bg1"/>
                </a:solidFill>
                <a:latin typeface="Arial Black" panose="020B0A04020102020204" pitchFamily="34" charset="0"/>
              </a:rPr>
              <a:t>Deliverables</a:t>
            </a:r>
          </a:p>
        </p:txBody>
      </p:sp>
      <p:pic>
        <p:nvPicPr>
          <p:cNvPr id="17" name="Picture 16" descr="United International University - Wikipedia">
            <a:extLst>
              <a:ext uri="{FF2B5EF4-FFF2-40B4-BE49-F238E27FC236}">
                <a16:creationId xmlns:a16="http://schemas.microsoft.com/office/drawing/2014/main" id="{07F576D0-DBF7-4669-8FAA-E79F9361F3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665" y="5533628"/>
            <a:ext cx="1084551" cy="9855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0B9F2240-1789-4D81-B79D-E7E8B23C32E4}"/>
              </a:ext>
            </a:extLst>
          </p:cNvPr>
          <p:cNvGrpSpPr/>
          <p:nvPr/>
        </p:nvGrpSpPr>
        <p:grpSpPr>
          <a:xfrm>
            <a:off x="1266190" y="5873086"/>
            <a:ext cx="10925810" cy="341450"/>
            <a:chOff x="1266190" y="5873086"/>
            <a:chExt cx="10925810" cy="341450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E2638B07-F874-4A44-AD3E-5F24AA91E4F6}"/>
                </a:ext>
              </a:extLst>
            </p:cNvPr>
            <p:cNvSpPr/>
            <p:nvPr/>
          </p:nvSpPr>
          <p:spPr>
            <a:xfrm>
              <a:off x="1276350" y="6107490"/>
              <a:ext cx="10915650" cy="96886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97464DE8-270E-4230-9E5D-E8972F6964FD}"/>
                </a:ext>
              </a:extLst>
            </p:cNvPr>
            <p:cNvSpPr/>
            <p:nvPr/>
          </p:nvSpPr>
          <p:spPr>
            <a:xfrm>
              <a:off x="1276350" y="5873086"/>
              <a:ext cx="10915650" cy="96886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Right Triangle 20">
              <a:extLst>
                <a:ext uri="{FF2B5EF4-FFF2-40B4-BE49-F238E27FC236}">
                  <a16:creationId xmlns:a16="http://schemas.microsoft.com/office/drawing/2014/main" id="{17ADC131-A1D2-4B8F-BBAA-3B6570B6B0D6}"/>
                </a:ext>
              </a:extLst>
            </p:cNvPr>
            <p:cNvSpPr/>
            <p:nvPr/>
          </p:nvSpPr>
          <p:spPr>
            <a:xfrm>
              <a:off x="1266190" y="5883246"/>
              <a:ext cx="386080" cy="331290"/>
            </a:xfrm>
            <a:prstGeom prst="rtTriangl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41FCF4-208D-493B-A3CD-E7C0D649E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24A9C-95B3-4FE7-9017-C049B7A2E691}" type="slidenum">
              <a:rPr lang="en-US" smtClean="0"/>
              <a:t>5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12C24AF-F873-495B-AF61-6D7372924AA5}"/>
              </a:ext>
            </a:extLst>
          </p:cNvPr>
          <p:cNvSpPr txBox="1"/>
          <p:nvPr/>
        </p:nvSpPr>
        <p:spPr>
          <a:xfrm>
            <a:off x="1040821" y="1490056"/>
            <a:ext cx="6881912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Real-time Fuel Inventory Tracking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Digital Token &amp; Queue Management </a:t>
            </a:r>
            <a:endParaRPr lang="en-US" sz="20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Vehicle Type-Based Fuel Allocation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Supply Chain &amp; Delivery Tracking </a:t>
            </a:r>
            <a:endParaRPr lang="en-US" sz="20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Transaction Log &amp; Fraud Detection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Role-based Admin Dashboard &amp; Reporting Fuel Pass </a:t>
            </a:r>
            <a:endParaRPr lang="en-US" sz="20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Employee Shift &amp; Accountability Management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Dynamic Pricing &amp; Price Change Log </a:t>
            </a:r>
            <a:endParaRPr lang="en-US" sz="20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Multi-pump Station Network &amp; Availability Map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Automated Audit Trail &amp; Regulatory Reporting </a:t>
            </a:r>
            <a:endParaRPr lang="en-US" sz="20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Odometer-Based Fuel Eligibility Verification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09354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1090EA8E-893E-F3CA-FB47-2E7354DD8C81}"/>
              </a:ext>
            </a:extLst>
          </p:cNvPr>
          <p:cNvGrpSpPr/>
          <p:nvPr/>
        </p:nvGrpSpPr>
        <p:grpSpPr>
          <a:xfrm>
            <a:off x="1" y="481985"/>
            <a:ext cx="12191999" cy="658453"/>
            <a:chOff x="1" y="659359"/>
            <a:chExt cx="12191999" cy="658453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BD8E325F-033E-F3DB-74A9-230253F64041}"/>
                </a:ext>
              </a:extLst>
            </p:cNvPr>
            <p:cNvSpPr/>
            <p:nvPr/>
          </p:nvSpPr>
          <p:spPr>
            <a:xfrm>
              <a:off x="1" y="659359"/>
              <a:ext cx="12191999" cy="658453"/>
            </a:xfrm>
            <a:prstGeom prst="roundRect">
              <a:avLst>
                <a:gd name="adj" fmla="val 0"/>
              </a:avLst>
            </a:prstGeom>
            <a:solidFill>
              <a:srgbClr val="EC7728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3200" dirty="0"/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A6F455AF-8831-4F9A-BF97-951D543F1FFA}"/>
                </a:ext>
              </a:extLst>
            </p:cNvPr>
            <p:cNvCxnSpPr>
              <a:cxnSpLocks/>
            </p:cNvCxnSpPr>
            <p:nvPr/>
          </p:nvCxnSpPr>
          <p:spPr>
            <a:xfrm>
              <a:off x="1004788" y="759894"/>
              <a:ext cx="0" cy="482479"/>
            </a:xfrm>
            <a:prstGeom prst="line">
              <a:avLst/>
            </a:pr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15" name="Arrow: Chevron 14">
              <a:extLst>
                <a:ext uri="{FF2B5EF4-FFF2-40B4-BE49-F238E27FC236}">
                  <a16:creationId xmlns:a16="http://schemas.microsoft.com/office/drawing/2014/main" id="{6DEC6D4F-3267-1913-C027-A81AE7AF19A7}"/>
                </a:ext>
              </a:extLst>
            </p:cNvPr>
            <p:cNvSpPr/>
            <p:nvPr/>
          </p:nvSpPr>
          <p:spPr>
            <a:xfrm>
              <a:off x="483756" y="722250"/>
              <a:ext cx="382138" cy="520123"/>
            </a:xfrm>
            <a:prstGeom prst="chevron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6" name="Arrow: Chevron 15">
              <a:extLst>
                <a:ext uri="{FF2B5EF4-FFF2-40B4-BE49-F238E27FC236}">
                  <a16:creationId xmlns:a16="http://schemas.microsoft.com/office/drawing/2014/main" id="{3B6A489A-D721-AA1C-10ED-FF30E78393F5}"/>
                </a:ext>
              </a:extLst>
            </p:cNvPr>
            <p:cNvSpPr/>
            <p:nvPr/>
          </p:nvSpPr>
          <p:spPr>
            <a:xfrm>
              <a:off x="64727" y="722250"/>
              <a:ext cx="382138" cy="520123"/>
            </a:xfrm>
            <a:prstGeom prst="chevron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9" name="TextBox 1">
            <a:extLst>
              <a:ext uri="{FF2B5EF4-FFF2-40B4-BE49-F238E27FC236}">
                <a16:creationId xmlns:a16="http://schemas.microsoft.com/office/drawing/2014/main" id="{5DEA2126-D72D-4BB9-9CE2-C91D4163FDD6}"/>
              </a:ext>
            </a:extLst>
          </p:cNvPr>
          <p:cNvSpPr txBox="1"/>
          <p:nvPr/>
        </p:nvSpPr>
        <p:spPr>
          <a:xfrm>
            <a:off x="1040821" y="593361"/>
            <a:ext cx="75898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bg1"/>
                </a:solidFill>
                <a:latin typeface="Arial Black" panose="020B0A04020102020204" pitchFamily="34" charset="0"/>
              </a:rPr>
              <a:t>Methodology</a:t>
            </a:r>
          </a:p>
        </p:txBody>
      </p:sp>
      <p:pic>
        <p:nvPicPr>
          <p:cNvPr id="17" name="Picture 16" descr="United International University - Wikipedia">
            <a:extLst>
              <a:ext uri="{FF2B5EF4-FFF2-40B4-BE49-F238E27FC236}">
                <a16:creationId xmlns:a16="http://schemas.microsoft.com/office/drawing/2014/main" id="{07F576D0-DBF7-4669-8FAA-E79F9361F3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665" y="5533628"/>
            <a:ext cx="1084551" cy="9855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0B9F2240-1789-4D81-B79D-E7E8B23C32E4}"/>
              </a:ext>
            </a:extLst>
          </p:cNvPr>
          <p:cNvGrpSpPr/>
          <p:nvPr/>
        </p:nvGrpSpPr>
        <p:grpSpPr>
          <a:xfrm>
            <a:off x="1266190" y="5873086"/>
            <a:ext cx="10925810" cy="341450"/>
            <a:chOff x="1266190" y="5873086"/>
            <a:chExt cx="10925810" cy="341450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E2638B07-F874-4A44-AD3E-5F24AA91E4F6}"/>
                </a:ext>
              </a:extLst>
            </p:cNvPr>
            <p:cNvSpPr/>
            <p:nvPr/>
          </p:nvSpPr>
          <p:spPr>
            <a:xfrm>
              <a:off x="1276350" y="6107490"/>
              <a:ext cx="10915650" cy="96886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97464DE8-270E-4230-9E5D-E8972F6964FD}"/>
                </a:ext>
              </a:extLst>
            </p:cNvPr>
            <p:cNvSpPr/>
            <p:nvPr/>
          </p:nvSpPr>
          <p:spPr>
            <a:xfrm>
              <a:off x="1276350" y="5873086"/>
              <a:ext cx="10915650" cy="96886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Right Triangle 20">
              <a:extLst>
                <a:ext uri="{FF2B5EF4-FFF2-40B4-BE49-F238E27FC236}">
                  <a16:creationId xmlns:a16="http://schemas.microsoft.com/office/drawing/2014/main" id="{17ADC131-A1D2-4B8F-BBAA-3B6570B6B0D6}"/>
                </a:ext>
              </a:extLst>
            </p:cNvPr>
            <p:cNvSpPr/>
            <p:nvPr/>
          </p:nvSpPr>
          <p:spPr>
            <a:xfrm>
              <a:off x="1266190" y="5883246"/>
              <a:ext cx="386080" cy="331290"/>
            </a:xfrm>
            <a:prstGeom prst="rtTriangl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41FCF4-208D-493B-A3CD-E7C0D649E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24A9C-95B3-4FE7-9017-C049B7A2E691}" type="slidenum">
              <a:rPr lang="en-US" smtClean="0"/>
              <a:t>6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21F1818-839F-4BCA-A647-8D7B50A0E4DF}"/>
              </a:ext>
            </a:extLst>
          </p:cNvPr>
          <p:cNvSpPr txBox="1"/>
          <p:nvPr/>
        </p:nvSpPr>
        <p:spPr>
          <a:xfrm>
            <a:off x="1004788" y="1394400"/>
            <a:ext cx="50292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Agile Development Approach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Iterative development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 testing and feedback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Modular implementation: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design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 UI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26207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1090EA8E-893E-F3CA-FB47-2E7354DD8C81}"/>
              </a:ext>
            </a:extLst>
          </p:cNvPr>
          <p:cNvGrpSpPr/>
          <p:nvPr/>
        </p:nvGrpSpPr>
        <p:grpSpPr>
          <a:xfrm>
            <a:off x="1841567" y="1077759"/>
            <a:ext cx="8508866" cy="3216582"/>
            <a:chOff x="1" y="659359"/>
            <a:chExt cx="12191999" cy="658453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BD8E325F-033E-F3DB-74A9-230253F64041}"/>
                </a:ext>
              </a:extLst>
            </p:cNvPr>
            <p:cNvSpPr/>
            <p:nvPr/>
          </p:nvSpPr>
          <p:spPr>
            <a:xfrm>
              <a:off x="1" y="659359"/>
              <a:ext cx="12191999" cy="658453"/>
            </a:xfrm>
            <a:prstGeom prst="roundRect">
              <a:avLst>
                <a:gd name="adj" fmla="val 0"/>
              </a:avLst>
            </a:prstGeom>
            <a:solidFill>
              <a:srgbClr val="EC7728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3200" dirty="0"/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A6F455AF-8831-4F9A-BF97-951D543F1FFA}"/>
                </a:ext>
              </a:extLst>
            </p:cNvPr>
            <p:cNvCxnSpPr>
              <a:cxnSpLocks/>
            </p:cNvCxnSpPr>
            <p:nvPr/>
          </p:nvCxnSpPr>
          <p:spPr>
            <a:xfrm>
              <a:off x="1004788" y="759894"/>
              <a:ext cx="0" cy="482479"/>
            </a:xfrm>
            <a:prstGeom prst="line">
              <a:avLst/>
            </a:pr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pic>
        <p:nvPicPr>
          <p:cNvPr id="17" name="Picture 16" descr="United International University - Wikipedia">
            <a:extLst>
              <a:ext uri="{FF2B5EF4-FFF2-40B4-BE49-F238E27FC236}">
                <a16:creationId xmlns:a16="http://schemas.microsoft.com/office/drawing/2014/main" id="{07F576D0-DBF7-4669-8FAA-E79F9361F3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665" y="5533628"/>
            <a:ext cx="1084551" cy="9855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0B9F2240-1789-4D81-B79D-E7E8B23C32E4}"/>
              </a:ext>
            </a:extLst>
          </p:cNvPr>
          <p:cNvGrpSpPr/>
          <p:nvPr/>
        </p:nvGrpSpPr>
        <p:grpSpPr>
          <a:xfrm>
            <a:off x="1266190" y="5873086"/>
            <a:ext cx="10925810" cy="341450"/>
            <a:chOff x="1266190" y="5873086"/>
            <a:chExt cx="10925810" cy="341450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E2638B07-F874-4A44-AD3E-5F24AA91E4F6}"/>
                </a:ext>
              </a:extLst>
            </p:cNvPr>
            <p:cNvSpPr/>
            <p:nvPr/>
          </p:nvSpPr>
          <p:spPr>
            <a:xfrm>
              <a:off x="1276350" y="6107490"/>
              <a:ext cx="10915650" cy="96886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97464DE8-270E-4230-9E5D-E8972F6964FD}"/>
                </a:ext>
              </a:extLst>
            </p:cNvPr>
            <p:cNvSpPr/>
            <p:nvPr/>
          </p:nvSpPr>
          <p:spPr>
            <a:xfrm>
              <a:off x="1276350" y="5873086"/>
              <a:ext cx="10915650" cy="96886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Right Triangle 20">
              <a:extLst>
                <a:ext uri="{FF2B5EF4-FFF2-40B4-BE49-F238E27FC236}">
                  <a16:creationId xmlns:a16="http://schemas.microsoft.com/office/drawing/2014/main" id="{17ADC131-A1D2-4B8F-BBAA-3B6570B6B0D6}"/>
                </a:ext>
              </a:extLst>
            </p:cNvPr>
            <p:cNvSpPr/>
            <p:nvPr/>
          </p:nvSpPr>
          <p:spPr>
            <a:xfrm>
              <a:off x="1266190" y="5883246"/>
              <a:ext cx="386080" cy="331290"/>
            </a:xfrm>
            <a:prstGeom prst="rtTriangl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41FCF4-208D-493B-A3CD-E7C0D649E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24A9C-95B3-4FE7-9017-C049B7A2E691}" type="slidenum">
              <a:rPr lang="en-US" smtClean="0"/>
              <a:t>7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7C9F77-903C-4CAF-935F-E068E9D99405}"/>
              </a:ext>
            </a:extLst>
          </p:cNvPr>
          <p:cNvSpPr txBox="1"/>
          <p:nvPr/>
        </p:nvSpPr>
        <p:spPr>
          <a:xfrm>
            <a:off x="2933701" y="1962775"/>
            <a:ext cx="632459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Entity-Relationship Diagram</a:t>
            </a:r>
          </a:p>
        </p:txBody>
      </p:sp>
    </p:spTree>
    <p:extLst>
      <p:ext uri="{BB962C8B-B14F-4D97-AF65-F5344CB8AC3E}">
        <p14:creationId xmlns:p14="http://schemas.microsoft.com/office/powerpoint/2010/main" val="40144231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United International University - Wikipedia">
            <a:extLst>
              <a:ext uri="{FF2B5EF4-FFF2-40B4-BE49-F238E27FC236}">
                <a16:creationId xmlns:a16="http://schemas.microsoft.com/office/drawing/2014/main" id="{07F576D0-DBF7-4669-8FAA-E79F9361F3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665" y="5533628"/>
            <a:ext cx="1084551" cy="9855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0B9F2240-1789-4D81-B79D-E7E8B23C32E4}"/>
              </a:ext>
            </a:extLst>
          </p:cNvPr>
          <p:cNvGrpSpPr/>
          <p:nvPr/>
        </p:nvGrpSpPr>
        <p:grpSpPr>
          <a:xfrm>
            <a:off x="1266190" y="5873086"/>
            <a:ext cx="10925810" cy="341450"/>
            <a:chOff x="1266190" y="5873086"/>
            <a:chExt cx="10925810" cy="341450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E2638B07-F874-4A44-AD3E-5F24AA91E4F6}"/>
                </a:ext>
              </a:extLst>
            </p:cNvPr>
            <p:cNvSpPr/>
            <p:nvPr/>
          </p:nvSpPr>
          <p:spPr>
            <a:xfrm>
              <a:off x="1276350" y="6107490"/>
              <a:ext cx="10915650" cy="96886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97464DE8-270E-4230-9E5D-E8972F6964FD}"/>
                </a:ext>
              </a:extLst>
            </p:cNvPr>
            <p:cNvSpPr/>
            <p:nvPr/>
          </p:nvSpPr>
          <p:spPr>
            <a:xfrm>
              <a:off x="1276350" y="5873086"/>
              <a:ext cx="10915650" cy="96886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Right Triangle 20">
              <a:extLst>
                <a:ext uri="{FF2B5EF4-FFF2-40B4-BE49-F238E27FC236}">
                  <a16:creationId xmlns:a16="http://schemas.microsoft.com/office/drawing/2014/main" id="{17ADC131-A1D2-4B8F-BBAA-3B6570B6B0D6}"/>
                </a:ext>
              </a:extLst>
            </p:cNvPr>
            <p:cNvSpPr/>
            <p:nvPr/>
          </p:nvSpPr>
          <p:spPr>
            <a:xfrm>
              <a:off x="1266190" y="5883246"/>
              <a:ext cx="386080" cy="331290"/>
            </a:xfrm>
            <a:prstGeom prst="rtTriangl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41FCF4-208D-493B-A3CD-E7C0D649E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24A9C-95B3-4FE7-9017-C049B7A2E691}" type="slidenum">
              <a:rPr lang="en-US" smtClean="0"/>
              <a:t>8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1FC144C-C022-4D97-8C0E-CA0BB5E572A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1552"/>
          <a:stretch/>
        </p:blipFill>
        <p:spPr>
          <a:xfrm>
            <a:off x="386032" y="247650"/>
            <a:ext cx="11462028" cy="5148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97347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1090EA8E-893E-F3CA-FB47-2E7354DD8C81}"/>
              </a:ext>
            </a:extLst>
          </p:cNvPr>
          <p:cNvGrpSpPr/>
          <p:nvPr/>
        </p:nvGrpSpPr>
        <p:grpSpPr>
          <a:xfrm>
            <a:off x="1841567" y="1077759"/>
            <a:ext cx="8508866" cy="3216582"/>
            <a:chOff x="1" y="659359"/>
            <a:chExt cx="12191999" cy="658453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BD8E325F-033E-F3DB-74A9-230253F64041}"/>
                </a:ext>
              </a:extLst>
            </p:cNvPr>
            <p:cNvSpPr/>
            <p:nvPr/>
          </p:nvSpPr>
          <p:spPr>
            <a:xfrm>
              <a:off x="1" y="659359"/>
              <a:ext cx="12191999" cy="658453"/>
            </a:xfrm>
            <a:prstGeom prst="roundRect">
              <a:avLst>
                <a:gd name="adj" fmla="val 0"/>
              </a:avLst>
            </a:prstGeom>
            <a:solidFill>
              <a:srgbClr val="EC7728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3200" dirty="0"/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A6F455AF-8831-4F9A-BF97-951D543F1FFA}"/>
                </a:ext>
              </a:extLst>
            </p:cNvPr>
            <p:cNvCxnSpPr>
              <a:cxnSpLocks/>
            </p:cNvCxnSpPr>
            <p:nvPr/>
          </p:nvCxnSpPr>
          <p:spPr>
            <a:xfrm>
              <a:off x="1004788" y="759894"/>
              <a:ext cx="0" cy="482479"/>
            </a:xfrm>
            <a:prstGeom prst="line">
              <a:avLst/>
            </a:pr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pic>
        <p:nvPicPr>
          <p:cNvPr id="17" name="Picture 16" descr="United International University - Wikipedia">
            <a:extLst>
              <a:ext uri="{FF2B5EF4-FFF2-40B4-BE49-F238E27FC236}">
                <a16:creationId xmlns:a16="http://schemas.microsoft.com/office/drawing/2014/main" id="{07F576D0-DBF7-4669-8FAA-E79F9361F3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665" y="5533628"/>
            <a:ext cx="1084551" cy="9855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0B9F2240-1789-4D81-B79D-E7E8B23C32E4}"/>
              </a:ext>
            </a:extLst>
          </p:cNvPr>
          <p:cNvGrpSpPr/>
          <p:nvPr/>
        </p:nvGrpSpPr>
        <p:grpSpPr>
          <a:xfrm>
            <a:off x="1266190" y="5873086"/>
            <a:ext cx="10925810" cy="341450"/>
            <a:chOff x="1266190" y="5873086"/>
            <a:chExt cx="10925810" cy="341450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E2638B07-F874-4A44-AD3E-5F24AA91E4F6}"/>
                </a:ext>
              </a:extLst>
            </p:cNvPr>
            <p:cNvSpPr/>
            <p:nvPr/>
          </p:nvSpPr>
          <p:spPr>
            <a:xfrm>
              <a:off x="1276350" y="6107490"/>
              <a:ext cx="10915650" cy="96886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97464DE8-270E-4230-9E5D-E8972F6964FD}"/>
                </a:ext>
              </a:extLst>
            </p:cNvPr>
            <p:cNvSpPr/>
            <p:nvPr/>
          </p:nvSpPr>
          <p:spPr>
            <a:xfrm>
              <a:off x="1276350" y="5873086"/>
              <a:ext cx="10915650" cy="96886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Right Triangle 20">
              <a:extLst>
                <a:ext uri="{FF2B5EF4-FFF2-40B4-BE49-F238E27FC236}">
                  <a16:creationId xmlns:a16="http://schemas.microsoft.com/office/drawing/2014/main" id="{17ADC131-A1D2-4B8F-BBAA-3B6570B6B0D6}"/>
                </a:ext>
              </a:extLst>
            </p:cNvPr>
            <p:cNvSpPr/>
            <p:nvPr/>
          </p:nvSpPr>
          <p:spPr>
            <a:xfrm>
              <a:off x="1266190" y="5883246"/>
              <a:ext cx="386080" cy="331290"/>
            </a:xfrm>
            <a:prstGeom prst="rtTriangl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41FCF4-208D-493B-A3CD-E7C0D649E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24A9C-95B3-4FE7-9017-C049B7A2E691}" type="slidenum">
              <a:rPr lang="en-US" smtClean="0"/>
              <a:t>9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7C9F77-903C-4CAF-935F-E068E9D99405}"/>
              </a:ext>
            </a:extLst>
          </p:cNvPr>
          <p:cNvSpPr txBox="1"/>
          <p:nvPr/>
        </p:nvSpPr>
        <p:spPr>
          <a:xfrm>
            <a:off x="2933701" y="1962775"/>
            <a:ext cx="632459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Entity-Relationship Schema</a:t>
            </a:r>
          </a:p>
        </p:txBody>
      </p:sp>
    </p:spTree>
    <p:extLst>
      <p:ext uri="{BB962C8B-B14F-4D97-AF65-F5344CB8AC3E}">
        <p14:creationId xmlns:p14="http://schemas.microsoft.com/office/powerpoint/2010/main" val="21583582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United International University - Wikipedia">
            <a:extLst>
              <a:ext uri="{FF2B5EF4-FFF2-40B4-BE49-F238E27FC236}">
                <a16:creationId xmlns:a16="http://schemas.microsoft.com/office/drawing/2014/main" id="{07F576D0-DBF7-4669-8FAA-E79F9361F3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665" y="5533628"/>
            <a:ext cx="1084551" cy="9855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0B9F2240-1789-4D81-B79D-E7E8B23C32E4}"/>
              </a:ext>
            </a:extLst>
          </p:cNvPr>
          <p:cNvGrpSpPr/>
          <p:nvPr/>
        </p:nvGrpSpPr>
        <p:grpSpPr>
          <a:xfrm>
            <a:off x="1266190" y="5873086"/>
            <a:ext cx="10925810" cy="341450"/>
            <a:chOff x="1266190" y="5873086"/>
            <a:chExt cx="10925810" cy="341450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E2638B07-F874-4A44-AD3E-5F24AA91E4F6}"/>
                </a:ext>
              </a:extLst>
            </p:cNvPr>
            <p:cNvSpPr/>
            <p:nvPr/>
          </p:nvSpPr>
          <p:spPr>
            <a:xfrm>
              <a:off x="1276350" y="6107490"/>
              <a:ext cx="10915650" cy="96886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97464DE8-270E-4230-9E5D-E8972F6964FD}"/>
                </a:ext>
              </a:extLst>
            </p:cNvPr>
            <p:cNvSpPr/>
            <p:nvPr/>
          </p:nvSpPr>
          <p:spPr>
            <a:xfrm>
              <a:off x="1276350" y="5873086"/>
              <a:ext cx="10915650" cy="96886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Right Triangle 20">
              <a:extLst>
                <a:ext uri="{FF2B5EF4-FFF2-40B4-BE49-F238E27FC236}">
                  <a16:creationId xmlns:a16="http://schemas.microsoft.com/office/drawing/2014/main" id="{17ADC131-A1D2-4B8F-BBAA-3B6570B6B0D6}"/>
                </a:ext>
              </a:extLst>
            </p:cNvPr>
            <p:cNvSpPr/>
            <p:nvPr/>
          </p:nvSpPr>
          <p:spPr>
            <a:xfrm>
              <a:off x="1266190" y="5883246"/>
              <a:ext cx="386080" cy="331290"/>
            </a:xfrm>
            <a:prstGeom prst="rtTriangl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41FCF4-208D-493B-A3CD-E7C0D649E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24A9C-95B3-4FE7-9017-C049B7A2E691}" type="slidenum">
              <a:rPr lang="en-US" smtClean="0"/>
              <a:t>10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2DD37BA-CD36-4AF9-84A9-55502F55E1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50" y="220273"/>
            <a:ext cx="11944350" cy="5138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13767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1090EA8E-893E-F3CA-FB47-2E7354DD8C81}"/>
              </a:ext>
            </a:extLst>
          </p:cNvPr>
          <p:cNvGrpSpPr/>
          <p:nvPr/>
        </p:nvGrpSpPr>
        <p:grpSpPr>
          <a:xfrm>
            <a:off x="1" y="481985"/>
            <a:ext cx="12191999" cy="658453"/>
            <a:chOff x="1" y="659359"/>
            <a:chExt cx="12191999" cy="658453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BD8E325F-033E-F3DB-74A9-230253F64041}"/>
                </a:ext>
              </a:extLst>
            </p:cNvPr>
            <p:cNvSpPr/>
            <p:nvPr/>
          </p:nvSpPr>
          <p:spPr>
            <a:xfrm>
              <a:off x="1" y="659359"/>
              <a:ext cx="12191999" cy="658453"/>
            </a:xfrm>
            <a:prstGeom prst="roundRect">
              <a:avLst>
                <a:gd name="adj" fmla="val 0"/>
              </a:avLst>
            </a:prstGeom>
            <a:solidFill>
              <a:srgbClr val="EC7728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3200" dirty="0"/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A6F455AF-8831-4F9A-BF97-951D543F1FFA}"/>
                </a:ext>
              </a:extLst>
            </p:cNvPr>
            <p:cNvCxnSpPr>
              <a:cxnSpLocks/>
            </p:cNvCxnSpPr>
            <p:nvPr/>
          </p:nvCxnSpPr>
          <p:spPr>
            <a:xfrm>
              <a:off x="1004788" y="759894"/>
              <a:ext cx="0" cy="482479"/>
            </a:xfrm>
            <a:prstGeom prst="line">
              <a:avLst/>
            </a:pr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15" name="Arrow: Chevron 14">
              <a:extLst>
                <a:ext uri="{FF2B5EF4-FFF2-40B4-BE49-F238E27FC236}">
                  <a16:creationId xmlns:a16="http://schemas.microsoft.com/office/drawing/2014/main" id="{6DEC6D4F-3267-1913-C027-A81AE7AF19A7}"/>
                </a:ext>
              </a:extLst>
            </p:cNvPr>
            <p:cNvSpPr/>
            <p:nvPr/>
          </p:nvSpPr>
          <p:spPr>
            <a:xfrm>
              <a:off x="483756" y="722250"/>
              <a:ext cx="382138" cy="520123"/>
            </a:xfrm>
            <a:prstGeom prst="chevron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6" name="Arrow: Chevron 15">
              <a:extLst>
                <a:ext uri="{FF2B5EF4-FFF2-40B4-BE49-F238E27FC236}">
                  <a16:creationId xmlns:a16="http://schemas.microsoft.com/office/drawing/2014/main" id="{3B6A489A-D721-AA1C-10ED-FF30E78393F5}"/>
                </a:ext>
              </a:extLst>
            </p:cNvPr>
            <p:cNvSpPr/>
            <p:nvPr/>
          </p:nvSpPr>
          <p:spPr>
            <a:xfrm>
              <a:off x="64727" y="722250"/>
              <a:ext cx="382138" cy="520123"/>
            </a:xfrm>
            <a:prstGeom prst="chevron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9" name="TextBox 1">
            <a:extLst>
              <a:ext uri="{FF2B5EF4-FFF2-40B4-BE49-F238E27FC236}">
                <a16:creationId xmlns:a16="http://schemas.microsoft.com/office/drawing/2014/main" id="{5DEA2126-D72D-4BB9-9CE2-C91D4163FDD6}"/>
              </a:ext>
            </a:extLst>
          </p:cNvPr>
          <p:cNvSpPr txBox="1"/>
          <p:nvPr/>
        </p:nvSpPr>
        <p:spPr>
          <a:xfrm>
            <a:off x="1040821" y="593361"/>
            <a:ext cx="75898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bg1"/>
                </a:solidFill>
                <a:latin typeface="Arial Black" panose="020B0A04020102020204" pitchFamily="34" charset="0"/>
              </a:rPr>
              <a:t>Technology Stack</a:t>
            </a:r>
          </a:p>
        </p:txBody>
      </p:sp>
      <p:pic>
        <p:nvPicPr>
          <p:cNvPr id="17" name="Picture 16" descr="United International University - Wikipedia">
            <a:extLst>
              <a:ext uri="{FF2B5EF4-FFF2-40B4-BE49-F238E27FC236}">
                <a16:creationId xmlns:a16="http://schemas.microsoft.com/office/drawing/2014/main" id="{07F576D0-DBF7-4669-8FAA-E79F9361F3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665" y="5533628"/>
            <a:ext cx="1084551" cy="9855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0B9F2240-1789-4D81-B79D-E7E8B23C32E4}"/>
              </a:ext>
            </a:extLst>
          </p:cNvPr>
          <p:cNvGrpSpPr/>
          <p:nvPr/>
        </p:nvGrpSpPr>
        <p:grpSpPr>
          <a:xfrm>
            <a:off x="1266190" y="5873086"/>
            <a:ext cx="10925810" cy="341450"/>
            <a:chOff x="1266190" y="5873086"/>
            <a:chExt cx="10925810" cy="341450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E2638B07-F874-4A44-AD3E-5F24AA91E4F6}"/>
                </a:ext>
              </a:extLst>
            </p:cNvPr>
            <p:cNvSpPr/>
            <p:nvPr/>
          </p:nvSpPr>
          <p:spPr>
            <a:xfrm>
              <a:off x="1276350" y="6107490"/>
              <a:ext cx="10915650" cy="96886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97464DE8-270E-4230-9E5D-E8972F6964FD}"/>
                </a:ext>
              </a:extLst>
            </p:cNvPr>
            <p:cNvSpPr/>
            <p:nvPr/>
          </p:nvSpPr>
          <p:spPr>
            <a:xfrm>
              <a:off x="1276350" y="5873086"/>
              <a:ext cx="10915650" cy="96886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Right Triangle 20">
              <a:extLst>
                <a:ext uri="{FF2B5EF4-FFF2-40B4-BE49-F238E27FC236}">
                  <a16:creationId xmlns:a16="http://schemas.microsoft.com/office/drawing/2014/main" id="{17ADC131-A1D2-4B8F-BBAA-3B6570B6B0D6}"/>
                </a:ext>
              </a:extLst>
            </p:cNvPr>
            <p:cNvSpPr/>
            <p:nvPr/>
          </p:nvSpPr>
          <p:spPr>
            <a:xfrm>
              <a:off x="1266190" y="5883246"/>
              <a:ext cx="386080" cy="331290"/>
            </a:xfrm>
            <a:prstGeom prst="rtTriangl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41FCF4-208D-493B-A3CD-E7C0D649E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24A9C-95B3-4FE7-9017-C049B7A2E691}" type="slidenum">
              <a:rPr lang="en-US" smtClean="0"/>
              <a:t>11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42D5EDE-9EDE-46E5-BD2F-D777810CF73F}"/>
              </a:ext>
            </a:extLst>
          </p:cNvPr>
          <p:cNvSpPr txBox="1"/>
          <p:nvPr/>
        </p:nvSpPr>
        <p:spPr>
          <a:xfrm>
            <a:off x="1266190" y="1479896"/>
            <a:ext cx="4048125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HTML, CSS, JavaScript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(Optional: React) 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PHP 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MySQL 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 Code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XAMPP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10735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1090EA8E-893E-F3CA-FB47-2E7354DD8C81}"/>
              </a:ext>
            </a:extLst>
          </p:cNvPr>
          <p:cNvGrpSpPr/>
          <p:nvPr/>
        </p:nvGrpSpPr>
        <p:grpSpPr>
          <a:xfrm>
            <a:off x="1" y="481985"/>
            <a:ext cx="12191999" cy="658453"/>
            <a:chOff x="1" y="659359"/>
            <a:chExt cx="12191999" cy="658453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BD8E325F-033E-F3DB-74A9-230253F64041}"/>
                </a:ext>
              </a:extLst>
            </p:cNvPr>
            <p:cNvSpPr/>
            <p:nvPr/>
          </p:nvSpPr>
          <p:spPr>
            <a:xfrm>
              <a:off x="1" y="659359"/>
              <a:ext cx="12191999" cy="658453"/>
            </a:xfrm>
            <a:prstGeom prst="roundRect">
              <a:avLst>
                <a:gd name="adj" fmla="val 0"/>
              </a:avLst>
            </a:prstGeom>
            <a:solidFill>
              <a:srgbClr val="EC7728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3200" dirty="0"/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A6F455AF-8831-4F9A-BF97-951D543F1FFA}"/>
                </a:ext>
              </a:extLst>
            </p:cNvPr>
            <p:cNvCxnSpPr>
              <a:cxnSpLocks/>
            </p:cNvCxnSpPr>
            <p:nvPr/>
          </p:nvCxnSpPr>
          <p:spPr>
            <a:xfrm>
              <a:off x="1004788" y="759894"/>
              <a:ext cx="0" cy="482479"/>
            </a:xfrm>
            <a:prstGeom prst="line">
              <a:avLst/>
            </a:pr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15" name="Arrow: Chevron 14">
              <a:extLst>
                <a:ext uri="{FF2B5EF4-FFF2-40B4-BE49-F238E27FC236}">
                  <a16:creationId xmlns:a16="http://schemas.microsoft.com/office/drawing/2014/main" id="{6DEC6D4F-3267-1913-C027-A81AE7AF19A7}"/>
                </a:ext>
              </a:extLst>
            </p:cNvPr>
            <p:cNvSpPr/>
            <p:nvPr/>
          </p:nvSpPr>
          <p:spPr>
            <a:xfrm>
              <a:off x="483756" y="722250"/>
              <a:ext cx="382138" cy="520123"/>
            </a:xfrm>
            <a:prstGeom prst="chevron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6" name="Arrow: Chevron 15">
              <a:extLst>
                <a:ext uri="{FF2B5EF4-FFF2-40B4-BE49-F238E27FC236}">
                  <a16:creationId xmlns:a16="http://schemas.microsoft.com/office/drawing/2014/main" id="{3B6A489A-D721-AA1C-10ED-FF30E78393F5}"/>
                </a:ext>
              </a:extLst>
            </p:cNvPr>
            <p:cNvSpPr/>
            <p:nvPr/>
          </p:nvSpPr>
          <p:spPr>
            <a:xfrm>
              <a:off x="64727" y="722250"/>
              <a:ext cx="382138" cy="520123"/>
            </a:xfrm>
            <a:prstGeom prst="chevron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9" name="TextBox 1">
            <a:extLst>
              <a:ext uri="{FF2B5EF4-FFF2-40B4-BE49-F238E27FC236}">
                <a16:creationId xmlns:a16="http://schemas.microsoft.com/office/drawing/2014/main" id="{5DEA2126-D72D-4BB9-9CE2-C91D4163FDD6}"/>
              </a:ext>
            </a:extLst>
          </p:cNvPr>
          <p:cNvSpPr txBox="1"/>
          <p:nvPr/>
        </p:nvSpPr>
        <p:spPr>
          <a:xfrm>
            <a:off x="1040821" y="593361"/>
            <a:ext cx="75898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bg1"/>
                </a:solidFill>
                <a:latin typeface="Arial Black" panose="020B0A04020102020204" pitchFamily="34" charset="0"/>
              </a:rPr>
              <a:t>Risks and Dependencies</a:t>
            </a:r>
          </a:p>
        </p:txBody>
      </p:sp>
      <p:pic>
        <p:nvPicPr>
          <p:cNvPr id="17" name="Picture 16" descr="United International University - Wikipedia">
            <a:extLst>
              <a:ext uri="{FF2B5EF4-FFF2-40B4-BE49-F238E27FC236}">
                <a16:creationId xmlns:a16="http://schemas.microsoft.com/office/drawing/2014/main" id="{07F576D0-DBF7-4669-8FAA-E79F9361F3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665" y="5533628"/>
            <a:ext cx="1084551" cy="9855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0B9F2240-1789-4D81-B79D-E7E8B23C32E4}"/>
              </a:ext>
            </a:extLst>
          </p:cNvPr>
          <p:cNvGrpSpPr/>
          <p:nvPr/>
        </p:nvGrpSpPr>
        <p:grpSpPr>
          <a:xfrm>
            <a:off x="1266190" y="5873086"/>
            <a:ext cx="10925810" cy="341450"/>
            <a:chOff x="1266190" y="5873086"/>
            <a:chExt cx="10925810" cy="341450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E2638B07-F874-4A44-AD3E-5F24AA91E4F6}"/>
                </a:ext>
              </a:extLst>
            </p:cNvPr>
            <p:cNvSpPr/>
            <p:nvPr/>
          </p:nvSpPr>
          <p:spPr>
            <a:xfrm>
              <a:off x="1276350" y="6107490"/>
              <a:ext cx="10915650" cy="96886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97464DE8-270E-4230-9E5D-E8972F6964FD}"/>
                </a:ext>
              </a:extLst>
            </p:cNvPr>
            <p:cNvSpPr/>
            <p:nvPr/>
          </p:nvSpPr>
          <p:spPr>
            <a:xfrm>
              <a:off x="1276350" y="5873086"/>
              <a:ext cx="10915650" cy="96886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Right Triangle 20">
              <a:extLst>
                <a:ext uri="{FF2B5EF4-FFF2-40B4-BE49-F238E27FC236}">
                  <a16:creationId xmlns:a16="http://schemas.microsoft.com/office/drawing/2014/main" id="{17ADC131-A1D2-4B8F-BBAA-3B6570B6B0D6}"/>
                </a:ext>
              </a:extLst>
            </p:cNvPr>
            <p:cNvSpPr/>
            <p:nvPr/>
          </p:nvSpPr>
          <p:spPr>
            <a:xfrm>
              <a:off x="1266190" y="5883246"/>
              <a:ext cx="386080" cy="331290"/>
            </a:xfrm>
            <a:prstGeom prst="rtTriangl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41FCF4-208D-493B-A3CD-E7C0D649E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24A9C-95B3-4FE7-9017-C049B7A2E691}" type="slidenum">
              <a:rPr lang="en-US" smtClean="0"/>
              <a:t>12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2EE2CDE-9005-451C-B9D8-63900327C2C6}"/>
              </a:ext>
            </a:extLst>
          </p:cNvPr>
          <p:cNvSpPr txBox="1"/>
          <p:nvPr/>
        </p:nvSpPr>
        <p:spPr>
          <a:xfrm>
            <a:off x="1040820" y="1598095"/>
            <a:ext cx="5264729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⚠ Risks: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Data inconsistency if constraints not enforced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System downtime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Incorrect user input </a:t>
            </a:r>
          </a:p>
          <a:p>
            <a:endParaRPr lang="en-US" sz="2000" b="1" dirty="0"/>
          </a:p>
          <a:p>
            <a:r>
              <a:rPr lang="en-US" sz="2000" b="1" dirty="0"/>
              <a:t>Dependencies: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Database server availability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Internet connection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Hosting environment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3569611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1090EA8E-893E-F3CA-FB47-2E7354DD8C81}"/>
              </a:ext>
            </a:extLst>
          </p:cNvPr>
          <p:cNvGrpSpPr/>
          <p:nvPr/>
        </p:nvGrpSpPr>
        <p:grpSpPr>
          <a:xfrm>
            <a:off x="1" y="481985"/>
            <a:ext cx="12191999" cy="658453"/>
            <a:chOff x="1" y="659359"/>
            <a:chExt cx="12191999" cy="658453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BD8E325F-033E-F3DB-74A9-230253F64041}"/>
                </a:ext>
              </a:extLst>
            </p:cNvPr>
            <p:cNvSpPr/>
            <p:nvPr/>
          </p:nvSpPr>
          <p:spPr>
            <a:xfrm>
              <a:off x="1" y="659359"/>
              <a:ext cx="12191999" cy="658453"/>
            </a:xfrm>
            <a:prstGeom prst="roundRect">
              <a:avLst>
                <a:gd name="adj" fmla="val 0"/>
              </a:avLst>
            </a:prstGeom>
            <a:solidFill>
              <a:srgbClr val="EC7728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3200" dirty="0"/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A6F455AF-8831-4F9A-BF97-951D543F1FFA}"/>
                </a:ext>
              </a:extLst>
            </p:cNvPr>
            <p:cNvCxnSpPr>
              <a:cxnSpLocks/>
            </p:cNvCxnSpPr>
            <p:nvPr/>
          </p:nvCxnSpPr>
          <p:spPr>
            <a:xfrm>
              <a:off x="1004788" y="759894"/>
              <a:ext cx="0" cy="482479"/>
            </a:xfrm>
            <a:prstGeom prst="line">
              <a:avLst/>
            </a:pr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15" name="Arrow: Chevron 14">
              <a:extLst>
                <a:ext uri="{FF2B5EF4-FFF2-40B4-BE49-F238E27FC236}">
                  <a16:creationId xmlns:a16="http://schemas.microsoft.com/office/drawing/2014/main" id="{6DEC6D4F-3267-1913-C027-A81AE7AF19A7}"/>
                </a:ext>
              </a:extLst>
            </p:cNvPr>
            <p:cNvSpPr/>
            <p:nvPr/>
          </p:nvSpPr>
          <p:spPr>
            <a:xfrm>
              <a:off x="483756" y="722250"/>
              <a:ext cx="382138" cy="520123"/>
            </a:xfrm>
            <a:prstGeom prst="chevron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6" name="Arrow: Chevron 15">
              <a:extLst>
                <a:ext uri="{FF2B5EF4-FFF2-40B4-BE49-F238E27FC236}">
                  <a16:creationId xmlns:a16="http://schemas.microsoft.com/office/drawing/2014/main" id="{3B6A489A-D721-AA1C-10ED-FF30E78393F5}"/>
                </a:ext>
              </a:extLst>
            </p:cNvPr>
            <p:cNvSpPr/>
            <p:nvPr/>
          </p:nvSpPr>
          <p:spPr>
            <a:xfrm>
              <a:off x="64727" y="722250"/>
              <a:ext cx="382138" cy="520123"/>
            </a:xfrm>
            <a:prstGeom prst="chevron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9" name="TextBox 1">
            <a:extLst>
              <a:ext uri="{FF2B5EF4-FFF2-40B4-BE49-F238E27FC236}">
                <a16:creationId xmlns:a16="http://schemas.microsoft.com/office/drawing/2014/main" id="{5DEA2126-D72D-4BB9-9CE2-C91D4163FDD6}"/>
              </a:ext>
            </a:extLst>
          </p:cNvPr>
          <p:cNvSpPr txBox="1"/>
          <p:nvPr/>
        </p:nvSpPr>
        <p:spPr>
          <a:xfrm>
            <a:off x="1040821" y="593361"/>
            <a:ext cx="75898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bg1"/>
                </a:solidFill>
                <a:latin typeface="Arial Black" panose="020B0A04020102020204" pitchFamily="34" charset="0"/>
              </a:rPr>
              <a:t>Conclusion</a:t>
            </a:r>
          </a:p>
        </p:txBody>
      </p:sp>
      <p:pic>
        <p:nvPicPr>
          <p:cNvPr id="17" name="Picture 16" descr="United International University - Wikipedia">
            <a:extLst>
              <a:ext uri="{FF2B5EF4-FFF2-40B4-BE49-F238E27FC236}">
                <a16:creationId xmlns:a16="http://schemas.microsoft.com/office/drawing/2014/main" id="{07F576D0-DBF7-4669-8FAA-E79F9361F3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665" y="5533628"/>
            <a:ext cx="1084551" cy="9855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0B9F2240-1789-4D81-B79D-E7E8B23C32E4}"/>
              </a:ext>
            </a:extLst>
          </p:cNvPr>
          <p:cNvGrpSpPr/>
          <p:nvPr/>
        </p:nvGrpSpPr>
        <p:grpSpPr>
          <a:xfrm>
            <a:off x="1266190" y="5873086"/>
            <a:ext cx="10925810" cy="341450"/>
            <a:chOff x="1266190" y="5873086"/>
            <a:chExt cx="10925810" cy="341450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E2638B07-F874-4A44-AD3E-5F24AA91E4F6}"/>
                </a:ext>
              </a:extLst>
            </p:cNvPr>
            <p:cNvSpPr/>
            <p:nvPr/>
          </p:nvSpPr>
          <p:spPr>
            <a:xfrm>
              <a:off x="1276350" y="6107490"/>
              <a:ext cx="10915650" cy="96886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97464DE8-270E-4230-9E5D-E8972F6964FD}"/>
                </a:ext>
              </a:extLst>
            </p:cNvPr>
            <p:cNvSpPr/>
            <p:nvPr/>
          </p:nvSpPr>
          <p:spPr>
            <a:xfrm>
              <a:off x="1276350" y="5873086"/>
              <a:ext cx="10915650" cy="96886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Right Triangle 20">
              <a:extLst>
                <a:ext uri="{FF2B5EF4-FFF2-40B4-BE49-F238E27FC236}">
                  <a16:creationId xmlns:a16="http://schemas.microsoft.com/office/drawing/2014/main" id="{17ADC131-A1D2-4B8F-BBAA-3B6570B6B0D6}"/>
                </a:ext>
              </a:extLst>
            </p:cNvPr>
            <p:cNvSpPr/>
            <p:nvPr/>
          </p:nvSpPr>
          <p:spPr>
            <a:xfrm>
              <a:off x="1266190" y="5883246"/>
              <a:ext cx="386080" cy="331290"/>
            </a:xfrm>
            <a:prstGeom prst="rtTriangl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41FCF4-208D-493B-A3CD-E7C0D649E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24A9C-95B3-4FE7-9017-C049B7A2E691}" type="slidenum">
              <a:rPr lang="en-US" smtClean="0"/>
              <a:t>13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B3B54B5-771F-4C04-96FF-B506754C989F}"/>
              </a:ext>
            </a:extLst>
          </p:cNvPr>
          <p:cNvSpPr txBox="1"/>
          <p:nvPr/>
        </p:nvSpPr>
        <p:spPr>
          <a:xfrm>
            <a:off x="1106698" y="1752600"/>
            <a:ext cx="7458076" cy="2345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 centralized and efficient fuel management solution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accuracy, transparency, and tracking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Scalable for multiple stations and users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Suitable for real-world fuel station operations </a:t>
            </a:r>
          </a:p>
          <a:p>
            <a:pPr>
              <a:lnSpc>
                <a:spcPct val="150000"/>
              </a:lnSpc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07254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97AAF45-DE2B-4009-B563-1A369551133A}"/>
              </a:ext>
            </a:extLst>
          </p:cNvPr>
          <p:cNvSpPr txBox="1">
            <a:spLocks/>
          </p:cNvSpPr>
          <p:nvPr/>
        </p:nvSpPr>
        <p:spPr>
          <a:xfrm>
            <a:off x="0" y="1434809"/>
            <a:ext cx="12191998" cy="12409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pic>
        <p:nvPicPr>
          <p:cNvPr id="17" name="Picture 16" descr="United International University - Wikipedia">
            <a:extLst>
              <a:ext uri="{FF2B5EF4-FFF2-40B4-BE49-F238E27FC236}">
                <a16:creationId xmlns:a16="http://schemas.microsoft.com/office/drawing/2014/main" id="{07F576D0-DBF7-4669-8FAA-E79F9361F3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665" y="5533628"/>
            <a:ext cx="1084551" cy="9855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0B9F2240-1789-4D81-B79D-E7E8B23C32E4}"/>
              </a:ext>
            </a:extLst>
          </p:cNvPr>
          <p:cNvGrpSpPr/>
          <p:nvPr/>
        </p:nvGrpSpPr>
        <p:grpSpPr>
          <a:xfrm>
            <a:off x="1266190" y="5873086"/>
            <a:ext cx="10925810" cy="341450"/>
            <a:chOff x="1266190" y="5873086"/>
            <a:chExt cx="10925810" cy="341450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E2638B07-F874-4A44-AD3E-5F24AA91E4F6}"/>
                </a:ext>
              </a:extLst>
            </p:cNvPr>
            <p:cNvSpPr/>
            <p:nvPr/>
          </p:nvSpPr>
          <p:spPr>
            <a:xfrm>
              <a:off x="1276350" y="6107490"/>
              <a:ext cx="10915650" cy="96886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97464DE8-270E-4230-9E5D-E8972F6964FD}"/>
                </a:ext>
              </a:extLst>
            </p:cNvPr>
            <p:cNvSpPr/>
            <p:nvPr/>
          </p:nvSpPr>
          <p:spPr>
            <a:xfrm>
              <a:off x="1276350" y="5873086"/>
              <a:ext cx="10915650" cy="96886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Right Triangle 20">
              <a:extLst>
                <a:ext uri="{FF2B5EF4-FFF2-40B4-BE49-F238E27FC236}">
                  <a16:creationId xmlns:a16="http://schemas.microsoft.com/office/drawing/2014/main" id="{17ADC131-A1D2-4B8F-BBAA-3B6570B6B0D6}"/>
                </a:ext>
              </a:extLst>
            </p:cNvPr>
            <p:cNvSpPr/>
            <p:nvPr/>
          </p:nvSpPr>
          <p:spPr>
            <a:xfrm>
              <a:off x="1266190" y="5883246"/>
              <a:ext cx="386080" cy="331290"/>
            </a:xfrm>
            <a:prstGeom prst="rtTriangl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A3D635BE-14D1-4EE5-80C3-F4BDBA4694F5}"/>
              </a:ext>
            </a:extLst>
          </p:cNvPr>
          <p:cNvSpPr txBox="1"/>
          <p:nvPr/>
        </p:nvSpPr>
        <p:spPr>
          <a:xfrm>
            <a:off x="1771015" y="1350199"/>
            <a:ext cx="837311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spc="600" dirty="0">
                <a:solidFill>
                  <a:srgbClr val="ED7D31"/>
                </a:solidFill>
                <a:latin typeface="Britannic Bold" panose="020B0903060703020204" pitchFamily="34" charset="0"/>
              </a:rPr>
              <a:t>Thank you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12C9A81-725A-4548-BC77-49B742A3FC94}"/>
              </a:ext>
            </a:extLst>
          </p:cNvPr>
          <p:cNvSpPr txBox="1"/>
          <p:nvPr/>
        </p:nvSpPr>
        <p:spPr>
          <a:xfrm>
            <a:off x="5439382" y="2529547"/>
            <a:ext cx="34766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Presented By  –  Group_1 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888AD92E-1499-4F52-A5CB-7086519F88F1}"/>
              </a:ext>
            </a:extLst>
          </p:cNvPr>
          <p:cNvCxnSpPr>
            <a:cxnSpLocks/>
          </p:cNvCxnSpPr>
          <p:nvPr/>
        </p:nvCxnSpPr>
        <p:spPr>
          <a:xfrm>
            <a:off x="1954047" y="3429000"/>
            <a:ext cx="697067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1" name="Arrow: Chevron 30">
            <a:extLst>
              <a:ext uri="{FF2B5EF4-FFF2-40B4-BE49-F238E27FC236}">
                <a16:creationId xmlns:a16="http://schemas.microsoft.com/office/drawing/2014/main" id="{15E35C48-8146-4B66-842A-F255441E7CC6}"/>
              </a:ext>
            </a:extLst>
          </p:cNvPr>
          <p:cNvSpPr/>
          <p:nvPr/>
        </p:nvSpPr>
        <p:spPr>
          <a:xfrm>
            <a:off x="483756" y="722250"/>
            <a:ext cx="382138" cy="520123"/>
          </a:xfrm>
          <a:prstGeom prst="chevron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Arrow: Chevron 31">
            <a:extLst>
              <a:ext uri="{FF2B5EF4-FFF2-40B4-BE49-F238E27FC236}">
                <a16:creationId xmlns:a16="http://schemas.microsoft.com/office/drawing/2014/main" id="{CE1BDC93-8718-481F-9581-E97F90733578}"/>
              </a:ext>
            </a:extLst>
          </p:cNvPr>
          <p:cNvSpPr/>
          <p:nvPr/>
        </p:nvSpPr>
        <p:spPr>
          <a:xfrm>
            <a:off x="64727" y="722250"/>
            <a:ext cx="382138" cy="520123"/>
          </a:xfrm>
          <a:prstGeom prst="chevron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3" name="Graphic 32" descr="Questions">
            <a:extLst>
              <a:ext uri="{FF2B5EF4-FFF2-40B4-BE49-F238E27FC236}">
                <a16:creationId xmlns:a16="http://schemas.microsoft.com/office/drawing/2014/main" id="{0295A65D-CC34-4CE2-807E-690B81C2C2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09811" y="2099512"/>
            <a:ext cx="3882189" cy="3882189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671DB3-C7B9-4C3C-8400-2AC4D86C3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24A9C-95B3-4FE7-9017-C049B7A2E691}" type="slidenum">
              <a:rPr lang="en-US" smtClean="0"/>
              <a:t>14</a:t>
            </a:fld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1F1FC54-16E6-44BF-B912-3ADF46F12007}"/>
              </a:ext>
            </a:extLst>
          </p:cNvPr>
          <p:cNvSpPr txBox="1"/>
          <p:nvPr/>
        </p:nvSpPr>
        <p:spPr>
          <a:xfrm>
            <a:off x="1962757" y="3540621"/>
            <a:ext cx="38821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 By  Md. Sajid Hasan </a:t>
            </a:r>
          </a:p>
        </p:txBody>
      </p:sp>
    </p:spTree>
    <p:extLst>
      <p:ext uri="{BB962C8B-B14F-4D97-AF65-F5344CB8AC3E}">
        <p14:creationId xmlns:p14="http://schemas.microsoft.com/office/powerpoint/2010/main" val="12181519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530</TotalTime>
  <Words>331</Words>
  <Application>Microsoft Office PowerPoint</Application>
  <PresentationFormat>Widescreen</PresentationFormat>
  <Paragraphs>94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Arial</vt:lpstr>
      <vt:lpstr>Arial Black</vt:lpstr>
      <vt:lpstr>Britannic Bold</vt:lpstr>
      <vt:lpstr>Calibri</vt:lpstr>
      <vt:lpstr>Calibri Light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Md. Sajid Hasan</dc:creator>
  <cp:lastModifiedBy>Md. Sajid Hasan</cp:lastModifiedBy>
  <cp:revision>19</cp:revision>
  <dcterms:created xsi:type="dcterms:W3CDTF">2025-10-13T08:33:00Z</dcterms:created>
  <dcterms:modified xsi:type="dcterms:W3CDTF">2026-05-04T19:08:20Z</dcterms:modified>
</cp:coreProperties>
</file>